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59" r:id="rId5"/>
    <p:sldId id="287" r:id="rId6"/>
    <p:sldId id="288" r:id="rId7"/>
    <p:sldId id="278" r:id="rId8"/>
    <p:sldId id="289" r:id="rId9"/>
    <p:sldId id="290" r:id="rId10"/>
    <p:sldId id="291" r:id="rId11"/>
    <p:sldId id="292" r:id="rId12"/>
    <p:sldId id="293" r:id="rId13"/>
    <p:sldId id="294" r:id="rId14"/>
    <p:sldId id="295" r:id="rId15"/>
    <p:sldId id="296" r:id="rId16"/>
    <p:sldId id="280"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38" d="100"/>
          <a:sy n="38" d="100"/>
        </p:scale>
        <p:origin x="9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prajesh102004/Astra-DB-lang-flow.git"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latin typeface="Times New Roman" panose="02020603050405020304" pitchFamily="18" charset="0"/>
                <a:cs typeface="Times New Roman" panose="02020603050405020304" pitchFamily="18" charset="0"/>
              </a:rPr>
              <a:t>Agentic AI Hackathon: Building Intelligent Agents with IBM Granite and </a:t>
            </a:r>
            <a:r>
              <a:rPr lang="en-US" dirty="0" err="1">
                <a:latin typeface="Times New Roman" panose="02020603050405020304" pitchFamily="18" charset="0"/>
                <a:cs typeface="Times New Roman" panose="02020603050405020304" pitchFamily="18" charset="0"/>
              </a:rPr>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endParaRPr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72603" y="6313462"/>
            <a:ext cx="11520407" cy="310052"/>
          </a:xfrm>
          <a:prstGeom prst="rect">
            <a:avLst/>
          </a:prstGeom>
        </p:spPr>
      </p:pic>
      <p:sp>
        <p:nvSpPr>
          <p:cNvPr id="15"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16" name="Google Shape;94;p2"/>
          <p:cNvSpPr txBox="1"/>
          <p:nvPr/>
        </p:nvSpPr>
        <p:spPr>
          <a:xfrm>
            <a:off x="2437657" y="445874"/>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i="0" u="none" strike="noStrike" cap="none" dirty="0">
                <a:solidFill>
                  <a:srgbClr val="1F3864"/>
                </a:solidFill>
                <a:latin typeface="Times New Roman"/>
                <a:ea typeface="Times New Roman"/>
                <a:cs typeface="Times New Roman"/>
                <a:sym typeface="Times New Roman"/>
              </a:rPr>
              <a:t>SKYMINDS</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17" name="Google Shape;95;p2"/>
          <p:cNvSpPr txBox="1"/>
          <p:nvPr/>
        </p:nvSpPr>
        <p:spPr>
          <a:xfrm>
            <a:off x="2419603" y="1031560"/>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18" name="Google Shape;96;p2"/>
          <p:cNvGraphicFramePr/>
          <p:nvPr>
            <p:extLst>
              <p:ext uri="{D42A27DB-BD31-4B8C-83A1-F6EECF244321}">
                <p14:modId xmlns:p14="http://schemas.microsoft.com/office/powerpoint/2010/main" val="3285735892"/>
              </p:ext>
            </p:extLst>
          </p:nvPr>
        </p:nvGraphicFramePr>
        <p:xfrm>
          <a:off x="2419602" y="1647752"/>
          <a:ext cx="8329677" cy="4623151"/>
        </p:xfrm>
        <a:graphic>
          <a:graphicData uri="http://schemas.openxmlformats.org/drawingml/2006/table">
            <a:tbl>
              <a:tblPr>
                <a:noFill/>
                <a:tableStyleId>{0AAD8F4D-43EB-41E5-8A38-28AB6DFB1B60}</a:tableStyleId>
              </a:tblPr>
              <a:tblGrid>
                <a:gridCol w="1812471">
                  <a:extLst>
                    <a:ext uri="{9D8B030D-6E8A-4147-A177-3AD203B41FA5}">
                      <a16:colId xmlns:a16="http://schemas.microsoft.com/office/drawing/2014/main" val="20000"/>
                    </a:ext>
                  </a:extLst>
                </a:gridCol>
                <a:gridCol w="2188534">
                  <a:extLst>
                    <a:ext uri="{9D8B030D-6E8A-4147-A177-3AD203B41FA5}">
                      <a16:colId xmlns:a16="http://schemas.microsoft.com/office/drawing/2014/main" val="20002"/>
                    </a:ext>
                  </a:extLst>
                </a:gridCol>
                <a:gridCol w="2162356">
                  <a:extLst>
                    <a:ext uri="{9D8B030D-6E8A-4147-A177-3AD203B41FA5}">
                      <a16:colId xmlns:a16="http://schemas.microsoft.com/office/drawing/2014/main" val="20003"/>
                    </a:ext>
                  </a:extLst>
                </a:gridCol>
                <a:gridCol w="2166316">
                  <a:extLst>
                    <a:ext uri="{9D8B030D-6E8A-4147-A177-3AD203B41FA5}">
                      <a16:colId xmlns:a16="http://schemas.microsoft.com/office/drawing/2014/main" val="20004"/>
                    </a:ext>
                  </a:extLst>
                </a:gridCol>
              </a:tblGrid>
              <a:tr h="1035439">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Email ID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30009">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ctr" rtl="0">
                        <a:spcBef>
                          <a:spcPts val="0"/>
                        </a:spcBef>
                        <a:spcAft>
                          <a:spcPts val="0"/>
                        </a:spcAft>
                        <a:buNone/>
                      </a:pPr>
                      <a:r>
                        <a:rPr lang="en-US" sz="1800" dirty="0" err="1" smtClean="0"/>
                        <a:t>Prajesh.L</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r>
                        <a:rPr lang="en-US" dirty="0" smtClean="0"/>
                        <a:t>Prajeshl.mca25@bmsce.ac.in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ctr" rtl="0">
                        <a:spcBef>
                          <a:spcPts val="0"/>
                        </a:spcBef>
                        <a:spcAft>
                          <a:spcPts val="0"/>
                        </a:spcAft>
                        <a:buNone/>
                      </a:pPr>
                      <a:r>
                        <a:rPr lang="en-US" dirty="0" smtClean="0"/>
                        <a:t>7411604573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158240">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ctr" rtl="0">
                        <a:spcBef>
                          <a:spcPts val="0"/>
                        </a:spcBef>
                        <a:spcAft>
                          <a:spcPts val="0"/>
                        </a:spcAft>
                        <a:buNone/>
                      </a:pPr>
                      <a:r>
                        <a:rPr lang="en-US" sz="1800" dirty="0" err="1" smtClean="0"/>
                        <a:t>Vishwa</a:t>
                      </a:r>
                      <a:r>
                        <a:rPr lang="en-US" sz="1800" baseline="0" dirty="0" smtClean="0"/>
                        <a:t> </a:t>
                      </a:r>
                      <a:r>
                        <a:rPr lang="en-US" sz="1800" baseline="0" dirty="0" err="1" smtClean="0"/>
                        <a:t>Moorthy</a:t>
                      </a:r>
                      <a:r>
                        <a:rPr lang="en-US" sz="1800" baseline="0" dirty="0" smtClean="0"/>
                        <a:t> S</a:t>
                      </a:r>
                      <a:endParaRPr lang="en-US" sz="1800" dirty="0" smtClean="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r>
                        <a:rPr lang="en-US" dirty="0" smtClean="0"/>
                        <a:t>vishwamoorthys@bmsce.ac.in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US" dirty="0" smtClean="0"/>
                    </a:p>
                    <a:p>
                      <a:pPr marL="0" marR="0" lvl="0" indent="0" algn="ctr" rtl="0">
                        <a:spcBef>
                          <a:spcPts val="0"/>
                        </a:spcBef>
                        <a:spcAft>
                          <a:spcPts val="0"/>
                        </a:spcAft>
                        <a:buNone/>
                      </a:pPr>
                      <a:r>
                        <a:rPr lang="en-US" dirty="0" smtClean="0"/>
                        <a:t>8050524532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099463">
                <a:tc>
                  <a:txBody>
                    <a:bodyPr/>
                    <a:lstStyle/>
                    <a:p>
                      <a:pPr marL="0" marR="0" lvl="0" indent="0" algn="l" rtl="0">
                        <a:spcBef>
                          <a:spcPts val="0"/>
                        </a:spcBef>
                        <a:spcAft>
                          <a:spcPts val="0"/>
                        </a:spcAft>
                        <a:buNone/>
                      </a:pPr>
                      <a:endParaRPr lang="en-US" sz="1800" dirty="0" smtClean="0"/>
                    </a:p>
                    <a:p>
                      <a:pPr marL="0" marR="0" lvl="0" indent="0" algn="ctr" rtl="0">
                        <a:spcBef>
                          <a:spcPts val="0"/>
                        </a:spcBef>
                        <a:spcAft>
                          <a:spcPts val="0"/>
                        </a:spcAft>
                        <a:buNone/>
                      </a:pPr>
                      <a:r>
                        <a:rPr lang="en-US" sz="1800" dirty="0" smtClean="0"/>
                        <a:t>Prashant</a:t>
                      </a:r>
                      <a:r>
                        <a:rPr lang="en-US" sz="1800" baseline="0" dirty="0" smtClean="0"/>
                        <a:t> Kumar Thakur</a:t>
                      </a:r>
                      <a:endParaRPr lang="en-US" sz="1800" dirty="0" smtClean="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400" dirty="0" smtClean="0"/>
                    </a:p>
                    <a:p>
                      <a:pPr marL="0" marR="0" lvl="0" indent="0" algn="l" rtl="0">
                        <a:spcBef>
                          <a:spcPts val="0"/>
                        </a:spcBef>
                        <a:spcAft>
                          <a:spcPts val="0"/>
                        </a:spcAft>
                        <a:buNone/>
                      </a:pPr>
                      <a:r>
                        <a:rPr lang="en-US" sz="1400" dirty="0" smtClean="0"/>
                        <a:t>prashantkumar.mca25@bmsce.ac.in</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1400" dirty="0" smtClean="0"/>
                    </a:p>
                    <a:p>
                      <a:pPr marL="0" marR="0" lvl="0" indent="0" algn="ctr" rtl="0">
                        <a:spcBef>
                          <a:spcPts val="0"/>
                        </a:spcBef>
                        <a:spcAft>
                          <a:spcPts val="0"/>
                        </a:spcAft>
                        <a:buNone/>
                      </a:pPr>
                      <a:endParaRPr lang="en-US" sz="1400" dirty="0" smtClean="0"/>
                    </a:p>
                    <a:p>
                      <a:pPr marL="0" marR="0" lvl="0" indent="0" algn="ctr" rtl="0">
                        <a:spcBef>
                          <a:spcPts val="0"/>
                        </a:spcBef>
                        <a:spcAft>
                          <a:spcPts val="0"/>
                        </a:spcAft>
                        <a:buNone/>
                      </a:pPr>
                      <a:r>
                        <a:rPr lang="en-US" sz="1400" dirty="0" smtClean="0"/>
                        <a:t>9155252202</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22" name="Picture 21">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6480" y="5383589"/>
            <a:ext cx="896968" cy="887625"/>
          </a:xfrm>
          <a:prstGeom prst="rect">
            <a:avLst/>
          </a:prstGeom>
        </p:spPr>
      </p:pic>
      <p:pic>
        <p:nvPicPr>
          <p:cNvPr id="5" name="Picture 4"/>
          <p:cNvPicPr>
            <a:picLocks noChangeAspect="1"/>
          </p:cNvPicPr>
          <p:nvPr/>
        </p:nvPicPr>
        <p:blipFill>
          <a:blip r:embed="rId5"/>
          <a:stretch>
            <a:fillRect/>
          </a:stretch>
        </p:blipFill>
        <p:spPr>
          <a:xfrm>
            <a:off x="4856480" y="2815777"/>
            <a:ext cx="791911" cy="1018171"/>
          </a:xfrm>
          <a:prstGeom prst="rect">
            <a:avLst/>
          </a:prstGeom>
        </p:spPr>
      </p:pic>
      <p:pic>
        <p:nvPicPr>
          <p:cNvPr id="24" name="Picture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7649" y="4062547"/>
            <a:ext cx="1025799" cy="11241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2" y="1188720"/>
            <a:ext cx="10052718" cy="4254819"/>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Agriculture</a:t>
            </a:r>
          </a:p>
          <a:p>
            <a:pPr>
              <a:lnSpc>
                <a:spcPct val="150000"/>
              </a:lnSpc>
            </a:pPr>
            <a:r>
              <a:rPr lang="en-US" dirty="0">
                <a:latin typeface="Times New Roman" panose="02020603050405020304" pitchFamily="18" charset="0"/>
                <a:cs typeface="Times New Roman" panose="02020603050405020304" pitchFamily="18" charset="0"/>
              </a:rPr>
              <a:t>Agricultural decision-making can be overwhelming, as farmers often struggle with:</a:t>
            </a:r>
          </a:p>
          <a:p>
            <a:pPr>
              <a:lnSpc>
                <a:spcPct val="150000"/>
              </a:lnSpc>
            </a:pPr>
            <a:r>
              <a:rPr lang="en-US" b="1" dirty="0">
                <a:latin typeface="Times New Roman" panose="02020603050405020304" pitchFamily="18" charset="0"/>
                <a:cs typeface="Times New Roman" panose="02020603050405020304" pitchFamily="18" charset="0"/>
              </a:rPr>
              <a:t>Information overload</a:t>
            </a:r>
            <a:r>
              <a:rPr lang="en-US" dirty="0">
                <a:latin typeface="Times New Roman" panose="02020603050405020304" pitchFamily="18" charset="0"/>
                <a:cs typeface="Times New Roman" panose="02020603050405020304" pitchFamily="18" charset="0"/>
              </a:rPr>
              <a:t> – managing millions of daily data points from diverse sensors, IoT devices, and proprietary platforms that often don't communicate with each other.</a:t>
            </a:r>
          </a:p>
          <a:p>
            <a:pPr>
              <a:lnSpc>
                <a:spcPct val="150000"/>
              </a:lnSpc>
            </a:pPr>
            <a:r>
              <a:rPr lang="en-US" b="1" dirty="0">
                <a:latin typeface="Times New Roman" panose="02020603050405020304" pitchFamily="18" charset="0"/>
                <a:cs typeface="Times New Roman" panose="02020603050405020304" pitchFamily="18" charset="0"/>
              </a:rPr>
              <a:t>Personalization gaps</a:t>
            </a:r>
            <a:r>
              <a:rPr lang="en-US" dirty="0">
                <a:latin typeface="Times New Roman" panose="02020603050405020304" pitchFamily="18" charset="0"/>
                <a:cs typeface="Times New Roman" panose="02020603050405020304" pitchFamily="18" charset="0"/>
              </a:rPr>
              <a:t> – receiving generic, "one-size-fits-all" advice that fails to account for local soil variations, specific crop needs, or the unique constraints of small-scale family farms.</a:t>
            </a:r>
          </a:p>
          <a:p>
            <a:pPr>
              <a:lnSpc>
                <a:spcPct val="150000"/>
              </a:lnSpc>
            </a:pPr>
            <a:r>
              <a:rPr lang="en-US" b="1" dirty="0">
                <a:latin typeface="Times New Roman" panose="02020603050405020304" pitchFamily="18" charset="0"/>
                <a:cs typeface="Times New Roman" panose="02020603050405020304" pitchFamily="18" charset="0"/>
              </a:rPr>
              <a:t>Unreliable sources</a:t>
            </a:r>
            <a:r>
              <a:rPr lang="en-US" dirty="0">
                <a:latin typeface="Times New Roman" panose="02020603050405020304" pitchFamily="18" charset="0"/>
                <a:cs typeface="Times New Roman" panose="02020603050405020304" pitchFamily="18" charset="0"/>
              </a:rPr>
              <a:t> – scattered and inconsistent information, including digital misinformation, biased datasets centered on large industrial farms, and a lack of expert-validated guidance.</a:t>
            </a:r>
          </a:p>
          <a:p>
            <a:pPr>
              <a:lnSpc>
                <a:spcPct val="150000"/>
              </a:lnSpc>
            </a:pPr>
            <a:r>
              <a:rPr lang="en-US" b="1" dirty="0">
                <a:latin typeface="Times New Roman" panose="02020603050405020304" pitchFamily="18" charset="0"/>
                <a:cs typeface="Times New Roman" panose="02020603050405020304" pitchFamily="18" charset="0"/>
              </a:rPr>
              <a:t>Dynamic conditions</a:t>
            </a:r>
            <a:r>
              <a:rPr lang="en-US" dirty="0">
                <a:latin typeface="Times New Roman" panose="02020603050405020304" pitchFamily="18" charset="0"/>
                <a:cs typeface="Times New Roman" panose="02020603050405020304" pitchFamily="18" charset="0"/>
              </a:rPr>
              <a:t> – rapid, unpredictable shifts in weather patterns (erratic rainfall, heatwaves), volatile market prices for commodities, and evolving pest or disease threats.</a:t>
            </a:r>
          </a:p>
          <a:p>
            <a:pPr>
              <a:lnSpc>
                <a:spcPct val="150000"/>
              </a:lnSpc>
            </a:pPr>
            <a:r>
              <a:rPr lang="en-US" dirty="0">
                <a:latin typeface="Times New Roman" panose="02020603050405020304" pitchFamily="18" charset="0"/>
                <a:cs typeface="Times New Roman" panose="02020603050405020304" pitchFamily="18" charset="0"/>
              </a:rPr>
              <a:t>Without a reliable, intelligent assistant, farmers spend excessive time trying to integrate conflicting data and still end up making suboptimal choices, leading to reduced crop yields, financial instability, and wasted resources.</a:t>
            </a: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57FE32-8AA8-E540-E0AA-C9737C71A0E2}"/>
              </a:ext>
            </a:extLst>
          </p:cNvPr>
          <p:cNvSpPr txBox="1"/>
          <p:nvPr/>
        </p:nvSpPr>
        <p:spPr>
          <a:xfrm>
            <a:off x="804672"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10073492" cy="166949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solution is a comprehensive </a:t>
            </a:r>
            <a:r>
              <a:rPr lang="en-US" b="1" dirty="0">
                <a:latin typeface="Times New Roman" panose="02020603050405020304" pitchFamily="18" charset="0"/>
                <a:cs typeface="Times New Roman" panose="02020603050405020304" pitchFamily="18" charset="0"/>
              </a:rPr>
              <a:t>AI-powered intelligence platform</a:t>
            </a:r>
            <a:r>
              <a:rPr lang="en-US" dirty="0">
                <a:latin typeface="Times New Roman" panose="02020603050405020304" pitchFamily="18" charset="0"/>
                <a:cs typeface="Times New Roman" panose="02020603050405020304" pitchFamily="18" charset="0"/>
              </a:rPr>
              <a:t> that evaluates and predicts climate-related risks for agri-food systems. It moves beyond simple data observation, using advanced machine learning models (such as </a:t>
            </a:r>
            <a:r>
              <a:rPr lang="en-US" b="1" dirty="0">
                <a:latin typeface="Times New Roman" panose="02020603050405020304" pitchFamily="18" charset="0"/>
                <a:cs typeface="Times New Roman" panose="02020603050405020304" pitchFamily="18" charset="0"/>
              </a:rPr>
              <a:t>Random Forests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K-Nearest Neighbors</a:t>
            </a:r>
            <a:r>
              <a:rPr lang="en-US" dirty="0">
                <a:latin typeface="Times New Roman" panose="02020603050405020304" pitchFamily="18" charset="0"/>
                <a:cs typeface="Times New Roman" panose="02020603050405020304" pitchFamily="18" charset="0"/>
              </a:rPr>
              <a:t>) to analyze historical records alongside real-time inputs. The system acts as a "digital agronomist," offering hyper-local advice tailored to specific field conditions and crop types. With future </a:t>
            </a:r>
            <a:r>
              <a:rPr lang="en-US" b="1" dirty="0">
                <a:latin typeface="Times New Roman" panose="02020603050405020304" pitchFamily="18" charset="0"/>
                <a:cs typeface="Times New Roman" panose="02020603050405020304" pitchFamily="18" charset="0"/>
              </a:rPr>
              <a:t>RNN</a:t>
            </a:r>
            <a:r>
              <a:rPr lang="en-US" dirty="0">
                <a:latin typeface="Times New Roman" panose="02020603050405020304" pitchFamily="18" charset="0"/>
                <a:cs typeface="Times New Roman" panose="02020603050405020304" pitchFamily="18" charset="0"/>
              </a:rPr>
              <a:t> improvements the model behaves more like a </a:t>
            </a:r>
            <a:r>
              <a:rPr lang="en-US" b="1" dirty="0">
                <a:latin typeface="Times New Roman" panose="02020603050405020304" pitchFamily="18" charset="0"/>
                <a:cs typeface="Times New Roman" panose="02020603050405020304" pitchFamily="18" charset="0"/>
              </a:rPr>
              <a:t>AI assistant </a:t>
            </a:r>
            <a:r>
              <a:rPr lang="en-US" dirty="0">
                <a:latin typeface="Times New Roman" panose="02020603050405020304" pitchFamily="18" charset="0"/>
                <a:cs typeface="Times New Roman" panose="02020603050405020304" pitchFamily="18" charset="0"/>
              </a:rPr>
              <a:t>guiding farmers and researchers by receiving scenarios, infers data from said scenarios and proposes a risk assessment based on past records. </a:t>
            </a:r>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2B3541"/>
              </a:buClr>
              <a:buSzPts val="1850"/>
              <a:buFont typeface="Times New Roman"/>
              <a:buNone/>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34441" y="1376481"/>
            <a:ext cx="10268712" cy="2315827"/>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need for an AI tool to check climate risk in farming is urgent because the old way of doing things is failing. Farmers can no longer rely on 'gut feel' or past weather patterns because climate change has made the weather unpredictable and extreme. Following the 'business as usual' path is now a huge risk that threatens our food supply and the bank accounts of farmers everywhere. This project fixes the 'data gap' by giving farmers a clear look at what is happening on their specific land, not just their general region. It turns farming from a guessing game into a smart strategy. Instead of waiting for a disaster like a flood or heatwave to happen and then reacting, this AI lets farmers see the danger coming two weeks early. It provides the high-tech 'early warning' needed to save crops, stop the waste of water and fertilizer, and keep the global food system stable in a changing world.</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681351"/>
            <a:ext cx="5496434" cy="5799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latin typeface="Times New Roman" panose="02020603050405020304" pitchFamily="18" charset="0"/>
                <a:cs typeface="Times New Roman" panose="02020603050405020304" pitchFamily="18" charset="0"/>
              </a:rPr>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268712" cy="2638992"/>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project initially serves agricultural researchers as a sophisticated diagnostic platform, allowing them to use Random Forest and KNN models to validate data patterns, fine-tune feature weights, and map climate analogs for long-term resilience testing. As the system evolves through the integration of Recurrent Neural Networks (RNNs) and LSTMs, it will transition into a simplified, field-ready assistant for farmers, capable of processing complex weather sequences into clear, actionable sowing advisories. By replacing technical dashboards with intuitive mobile interfaces and plain-language guidance, the final solution democratizes expert-level agronomy, shifting the end-user experience from data analysis to proactive disaster prevention and resource management. This evolution ensures that the complex predictive power developed in the lab becomes a practical, daily tool that helps farmers reduce waste, secure financial support, and protect their livelihoods against an increasingly unpredictable environment.</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End user of project</a:t>
            </a: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095275"/>
            <a:ext cx="8313494" cy="42934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Langflow</a:t>
            </a:r>
            <a:r>
              <a:rPr lang="en-US" sz="1800" dirty="0">
                <a:latin typeface="Times New Roman" panose="02020603050405020304" pitchFamily="18" charset="0"/>
                <a:cs typeface="Times New Roman" panose="02020603050405020304" pitchFamily="18" charset="0"/>
              </a:rPr>
              <a:t> platform</a:t>
            </a:r>
          </a:p>
          <a:p>
            <a:pPr marL="285750" indent="-285750">
              <a:lnSpc>
                <a:spcPct val="150000"/>
              </a:lnSpc>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Langflow</a:t>
            </a:r>
            <a:r>
              <a:rPr lang="en-US" sz="1800" dirty="0">
                <a:latin typeface="Times New Roman" panose="02020603050405020304" pitchFamily="18" charset="0"/>
                <a:cs typeface="Times New Roman" panose="02020603050405020304" pitchFamily="18" charset="0"/>
              </a:rPr>
              <a:t> component name –  Agent  , Chat input , Chat </a:t>
            </a:r>
            <a:r>
              <a:rPr lang="en-US" sz="1800" dirty="0" smtClean="0">
                <a:latin typeface="Times New Roman" panose="02020603050405020304" pitchFamily="18" charset="0"/>
                <a:cs typeface="Times New Roman" panose="02020603050405020304" pitchFamily="18" charset="0"/>
              </a:rPr>
              <a:t>output, API Connectors, Prompt Template, LLM Node </a:t>
            </a:r>
            <a:endParaRPr lang="en-US"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IBM </a:t>
            </a:r>
            <a:r>
              <a:rPr lang="en-US" sz="1800" dirty="0" err="1">
                <a:latin typeface="Times New Roman" panose="02020603050405020304" pitchFamily="18" charset="0"/>
                <a:cs typeface="Times New Roman" panose="02020603050405020304" pitchFamily="18" charset="0"/>
              </a:rPr>
              <a:t>Grainte</a:t>
            </a:r>
            <a:r>
              <a:rPr lang="en-US" sz="1800" dirty="0">
                <a:latin typeface="Times New Roman" panose="02020603050405020304" pitchFamily="18" charset="0"/>
                <a:cs typeface="Times New Roman" panose="02020603050405020304" pitchFamily="18" charset="0"/>
              </a:rPr>
              <a:t> model -  </a:t>
            </a:r>
            <a:r>
              <a:rPr lang="en-IN" sz="1600" dirty="0" err="1" smtClean="0"/>
              <a:t>ibm</a:t>
            </a:r>
            <a:r>
              <a:rPr lang="en-IN" sz="1600" dirty="0" smtClean="0"/>
              <a:t>/granite-3-8b-instruct</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Cloud Platform- IBM </a:t>
            </a:r>
            <a:r>
              <a:rPr lang="en-US" sz="1800" dirty="0">
                <a:latin typeface="Times New Roman" panose="02020603050405020304" pitchFamily="18" charset="0"/>
                <a:cs typeface="Times New Roman" panose="02020603050405020304" pitchFamily="18" charset="0"/>
              </a:rPr>
              <a:t>Cloud</a:t>
            </a:r>
            <a:endParaRPr lang="en-US" sz="1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AI-Studio- IBM </a:t>
            </a:r>
            <a:r>
              <a:rPr lang="en-US" sz="1800" dirty="0">
                <a:latin typeface="Times New Roman" panose="02020603050405020304" pitchFamily="18" charset="0"/>
                <a:cs typeface="Times New Roman" panose="02020603050405020304" pitchFamily="18" charset="0"/>
              </a:rPr>
              <a:t>Watsonx.ai</a:t>
            </a:r>
          </a:p>
          <a:p>
            <a:pPr marL="285750" indent="-285750">
              <a:lnSpc>
                <a:spcPct val="150000"/>
              </a:lnSpc>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Watsonx</a:t>
            </a:r>
            <a:endParaRPr lang="en-US"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nSpc>
                <a:spcPct val="150000"/>
              </a:lnSpc>
            </a:pPr>
            <a:endParaRPr lang="en-US" sz="1200" dirty="0">
              <a:latin typeface="Times New Roman" panose="02020603050405020304" pitchFamily="18" charset="0"/>
              <a:cs typeface="Times New Roman" panose="02020603050405020304" pitchFamily="18" charset="0"/>
            </a:endParaRPr>
          </a:p>
          <a:p>
            <a:pPr>
              <a:lnSpc>
                <a:spcPct val="150000"/>
              </a:lnSpc>
            </a:pPr>
            <a:endParaRPr lang="en-IN" sz="1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12" name="Google Shape;281;p18"/>
          <p:cNvSpPr/>
          <p:nvPr/>
        </p:nvSpPr>
        <p:spPr>
          <a:xfrm>
            <a:off x="489858" y="1387929"/>
            <a:ext cx="8997042" cy="447402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Reduces Resource Waste: </a:t>
            </a:r>
            <a:r>
              <a:rPr lang="en-US" sz="1850" dirty="0">
                <a:solidFill>
                  <a:srgbClr val="2B3541"/>
                </a:solidFill>
                <a:latin typeface="Times New Roman"/>
                <a:ea typeface="Times New Roman"/>
                <a:cs typeface="Times New Roman"/>
                <a:sym typeface="Times New Roman"/>
              </a:rPr>
              <a:t>Helps farmers avoid applying fertilizer or water right before a heavy rain or flood event that would wash it away.</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​Protects Yield Integrity: </a:t>
            </a:r>
            <a:r>
              <a:rPr lang="en-US" sz="1850" dirty="0">
                <a:solidFill>
                  <a:srgbClr val="2B3541"/>
                </a:solidFill>
                <a:latin typeface="Times New Roman"/>
                <a:ea typeface="Times New Roman"/>
                <a:cs typeface="Times New Roman"/>
                <a:sym typeface="Times New Roman"/>
              </a:rPr>
              <a:t>By predicting frost or drought early, it allows for "preventative" rather than "reactive" farming, saving the harvest.</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a:t>
            </a:r>
            <a:r>
              <a:rPr lang="en-US" sz="1850" b="1" dirty="0">
                <a:solidFill>
                  <a:srgbClr val="2B3541"/>
                </a:solidFill>
                <a:latin typeface="Times New Roman"/>
                <a:ea typeface="Times New Roman"/>
                <a:cs typeface="Times New Roman"/>
                <a:sym typeface="Times New Roman"/>
              </a:rPr>
              <a:t>Financial Planning</a:t>
            </a:r>
            <a:r>
              <a:rPr lang="en-US" sz="1850" dirty="0">
                <a:solidFill>
                  <a:srgbClr val="2B3541"/>
                </a:solidFill>
                <a:latin typeface="Times New Roman"/>
                <a:ea typeface="Times New Roman"/>
                <a:cs typeface="Times New Roman"/>
                <a:sym typeface="Times New Roman"/>
              </a:rPr>
              <a:t>: Assists in estimating potential yield losses, which helps farmers secure better insurance rates or bank loans by showing they have a "Risk Mitigation" plan.</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​Climate Adaptation</a:t>
            </a:r>
            <a:r>
              <a:rPr lang="en-US" sz="1850" dirty="0">
                <a:solidFill>
                  <a:srgbClr val="2B3541"/>
                </a:solidFill>
                <a:latin typeface="Times New Roman"/>
                <a:ea typeface="Times New Roman"/>
                <a:cs typeface="Times New Roman"/>
                <a:sym typeface="Times New Roman"/>
              </a:rPr>
              <a:t>: It guides the farmer on when to shift planting dates or change crop varieties to match the changing climate of their specific plot.</a:t>
            </a:r>
            <a:endParaRPr dirty="0"/>
          </a:p>
        </p:txBody>
      </p:sp>
      <p:pic>
        <p:nvPicPr>
          <p:cNvPr id="13" name="Picture 12">
            <a:extLst>
              <a:ext uri="{FF2B5EF4-FFF2-40B4-BE49-F238E27FC236}">
                <a16:creationId xmlns:a16="http://schemas.microsoft.com/office/drawing/2014/main" id="{676BD740-4294-408A-9014-7C75E9F50954}"/>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43453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9" name="Picture 8">
            <a:extLst>
              <a:ext uri="{FF2B5EF4-FFF2-40B4-BE49-F238E27FC236}">
                <a16:creationId xmlns:a16="http://schemas.microsoft.com/office/drawing/2014/main" id="{13F004CF-732B-B365-E320-17AD7B82A8D0}"/>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10" name="Picture 9"/>
          <p:cNvPicPr>
            <a:picLocks noChangeAspect="1"/>
          </p:cNvPicPr>
          <p:nvPr/>
        </p:nvPicPr>
        <p:blipFill>
          <a:blip r:embed="rId3"/>
          <a:stretch>
            <a:fillRect/>
          </a:stretch>
        </p:blipFill>
        <p:spPr>
          <a:xfrm>
            <a:off x="2737758" y="825975"/>
            <a:ext cx="6199414" cy="5644567"/>
          </a:xfrm>
          <a:prstGeom prst="rect">
            <a:avLst/>
          </a:prstGeom>
        </p:spPr>
      </p:pic>
    </p:spTree>
    <p:extLst>
      <p:ext uri="{BB962C8B-B14F-4D97-AF65-F5344CB8AC3E}">
        <p14:creationId xmlns:p14="http://schemas.microsoft.com/office/powerpoint/2010/main" val="2524047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dirty="0">
              <a:solidFill>
                <a:srgbClr val="000000"/>
              </a:solidFill>
              <a:ea typeface="Times New Roman"/>
              <a:cs typeface="Times New Roman"/>
            </a:endParaRPr>
          </a:p>
        </p:txBody>
      </p:sp>
      <p:sp>
        <p:nvSpPr>
          <p:cNvPr id="14"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6"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7"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8"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9"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0" name="TextBox 19">
            <a:extLst>
              <a:ext uri="{FF2B5EF4-FFF2-40B4-BE49-F238E27FC236}">
                <a16:creationId xmlns:a16="http://schemas.microsoft.com/office/drawing/2014/main" id="{9BB86949-7ED1-C43B-B1E3-5122BB67A596}"/>
              </a:ext>
            </a:extLst>
          </p:cNvPr>
          <p:cNvSpPr txBox="1"/>
          <p:nvPr/>
        </p:nvSpPr>
        <p:spPr>
          <a:xfrm>
            <a:off x="665321" y="771747"/>
            <a:ext cx="8823960" cy="6986528"/>
          </a:xfrm>
          <a:prstGeom prst="rect">
            <a:avLst/>
          </a:prstGeom>
          <a:noFill/>
        </p:spPr>
        <p:txBody>
          <a:bodyPr wrap="square" rtlCol="0">
            <a:spAutoFit/>
          </a:bodyPr>
          <a:lstStyle/>
          <a:p>
            <a:r>
              <a:rPr lang="en-US" dirty="0"/>
              <a:t>Each component in your </a:t>
            </a:r>
            <a:r>
              <a:rPr lang="en-US" dirty="0" err="1"/>
              <a:t>Langflow</a:t>
            </a:r>
            <a:r>
              <a:rPr lang="en-US" dirty="0"/>
              <a:t> project serves as a specific "department" in the workflow, handling everything from user communication to complex data analysis. Here is the breakdown of the components you've used:</a:t>
            </a:r>
          </a:p>
          <a:p>
            <a:r>
              <a:rPr lang="en-US" dirty="0"/>
              <a:t>​1) Chat Input</a:t>
            </a:r>
          </a:p>
          <a:p>
            <a:r>
              <a:rPr lang="en-US" dirty="0"/>
              <a:t>​This is the starting point of your project. It acts as the gateway between the user and the AI</a:t>
            </a:r>
            <a:r>
              <a:rPr lang="en-US" dirty="0" smtClean="0"/>
              <a:t>..</a:t>
            </a:r>
            <a:endParaRPr lang="en-US" dirty="0"/>
          </a:p>
          <a:p>
            <a:r>
              <a:rPr lang="en-US" dirty="0"/>
              <a:t>​Function: It takes the text you type and packages it as a "Message" object. This object doesn't just contain your text; it also carries metadata like the timestamp and session ID, which it passes to the next component in the chain.</a:t>
            </a:r>
          </a:p>
          <a:p>
            <a:r>
              <a:rPr lang="en-US" dirty="0"/>
              <a:t>​2) IBM </a:t>
            </a:r>
            <a:r>
              <a:rPr lang="en-US" dirty="0" err="1"/>
              <a:t>watsonx</a:t>
            </a:r>
            <a:r>
              <a:rPr lang="en-US" dirty="0"/>
              <a:t> AI Agent (or LLM Node)</a:t>
            </a:r>
          </a:p>
          <a:p>
            <a:r>
              <a:rPr lang="en-US" dirty="0"/>
              <a:t>​This is the intellectual engine or the "brain" of the project.</a:t>
            </a:r>
          </a:p>
          <a:p>
            <a:r>
              <a:rPr lang="en-US" dirty="0"/>
              <a:t>​Role: It performs the actual reasoning and risk assessment.</a:t>
            </a:r>
          </a:p>
          <a:p>
            <a:r>
              <a:rPr lang="en-US" dirty="0"/>
              <a:t>​Function: Using the IBM Granite foundation models, this component receives the instructions (Prompt) and the data (Weather/Satellite) and processes them. It "reasons" through the information to determine if the conditions are dangerous for the specific crop and location you provided. It is responsible for generating the professional, actionable advice you see at the end.</a:t>
            </a:r>
          </a:p>
          <a:p>
            <a:r>
              <a:rPr lang="en-US" dirty="0" smtClean="0"/>
              <a:t>​​</a:t>
            </a:r>
            <a:r>
              <a:rPr lang="en-US" dirty="0"/>
              <a:t>4) Chat Output</a:t>
            </a:r>
          </a:p>
          <a:p>
            <a:r>
              <a:rPr lang="en-US" dirty="0"/>
              <a:t>​This is the finishing line of your project.</a:t>
            </a:r>
          </a:p>
          <a:p>
            <a:r>
              <a:rPr lang="en-US" dirty="0"/>
              <a:t>​Role: It delivers the final answer back to the user.</a:t>
            </a:r>
          </a:p>
          <a:p>
            <a:r>
              <a:rPr lang="en-US" dirty="0"/>
              <a:t>​Function: It takes the generated text response from the IBM </a:t>
            </a:r>
            <a:r>
              <a:rPr lang="en-US" dirty="0" err="1"/>
              <a:t>watsonx</a:t>
            </a:r>
            <a:r>
              <a:rPr lang="en-US" dirty="0"/>
              <a:t> component and displays it in the chat interface. It ensures the response is formatted correctly so that the farmer can easily read the risk score and the recommended steps.</a:t>
            </a:r>
          </a:p>
          <a:p>
            <a:r>
              <a:rPr lang="en-US" dirty="0"/>
              <a:t>​Additional Component Used: Prompt Template</a:t>
            </a:r>
          </a:p>
          <a:p>
            <a:r>
              <a:rPr lang="en-US" dirty="0"/>
              <a:t>​Your project wouldn't work without this hidden "translator" between the components.</a:t>
            </a:r>
          </a:p>
          <a:p>
            <a:r>
              <a:rPr lang="en-US" dirty="0"/>
              <a:t>​Role: It structures the "work order" for the AI.</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21" name="Picture 20">
            <a:extLst>
              <a:ext uri="{FF2B5EF4-FFF2-40B4-BE49-F238E27FC236}">
                <a16:creationId xmlns:a16="http://schemas.microsoft.com/office/drawing/2014/main" id="{F55A7959-9FC6-1DAE-7A47-36165450EF19}"/>
              </a:ext>
            </a:extLst>
          </p:cNvPr>
          <p:cNvPicPr>
            <a:picLocks noChangeAspect="1"/>
          </p:cNvPicPr>
          <p:nvPr/>
        </p:nvPicPr>
        <p:blipFill>
          <a:blip r:embed="rId2"/>
          <a:stretch>
            <a:fillRect/>
          </a:stretch>
        </p:blipFill>
        <p:spPr>
          <a:xfrm>
            <a:off x="156183" y="6495322"/>
            <a:ext cx="11520407" cy="310052"/>
          </a:xfrm>
          <a:prstGeom prst="rect">
            <a:avLst/>
          </a:prstGeom>
        </p:spPr>
      </p:pic>
    </p:spTree>
    <p:extLst>
      <p:ext uri="{BB962C8B-B14F-4D97-AF65-F5344CB8AC3E}">
        <p14:creationId xmlns:p14="http://schemas.microsoft.com/office/powerpoint/2010/main" val="222139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6" name="Picture 5">
            <a:extLst>
              <a:ext uri="{FF2B5EF4-FFF2-40B4-BE49-F238E27FC236}">
                <a16:creationId xmlns:a16="http://schemas.microsoft.com/office/drawing/2014/main" id="{073ADE60-811A-97E9-24FE-F2F7F61FA469}"/>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779" y="790530"/>
            <a:ext cx="10058400" cy="5396861"/>
          </a:xfrm>
          <a:prstGeom prst="rect">
            <a:avLst/>
          </a:prstGeom>
        </p:spPr>
      </p:pic>
    </p:spTree>
    <p:extLst>
      <p:ext uri="{BB962C8B-B14F-4D97-AF65-F5344CB8AC3E}">
        <p14:creationId xmlns:p14="http://schemas.microsoft.com/office/powerpoint/2010/main" val="2129055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779" y="790530"/>
            <a:ext cx="10058400" cy="5396861"/>
          </a:xfrm>
          <a:prstGeom prst="rect">
            <a:avLst/>
          </a:prstGeom>
        </p:spPr>
      </p:pic>
    </p:spTree>
    <p:extLst>
      <p:ext uri="{BB962C8B-B14F-4D97-AF65-F5344CB8AC3E}">
        <p14:creationId xmlns:p14="http://schemas.microsoft.com/office/powerpoint/2010/main" val="108702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smtClean="0"/>
              <a:t>Output </a:t>
            </a:r>
            <a:r>
              <a:rPr lang="en-US" sz="2400" b="1" dirty="0"/>
              <a:t>Screenshot 1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779" y="790530"/>
            <a:ext cx="10058400" cy="5396861"/>
          </a:xfrm>
          <a:prstGeom prst="rect">
            <a:avLst/>
          </a:prstGeom>
        </p:spPr>
      </p:pic>
    </p:spTree>
    <p:extLst>
      <p:ext uri="{BB962C8B-B14F-4D97-AF65-F5344CB8AC3E}">
        <p14:creationId xmlns:p14="http://schemas.microsoft.com/office/powerpoint/2010/main" val="196196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a:t>
            </a:r>
            <a:r>
              <a:rPr lang="en-US" sz="2400" b="1" dirty="0" smtClean="0"/>
              <a:t>2</a:t>
            </a:r>
            <a:r>
              <a:rPr lang="en-US" sz="2400" b="1" dirty="0"/>
              <a:t>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779" y="790530"/>
            <a:ext cx="10058400" cy="5396861"/>
          </a:xfrm>
          <a:prstGeom prst="rect">
            <a:avLst/>
          </a:prstGeom>
        </p:spPr>
      </p:pic>
    </p:spTree>
    <p:extLst>
      <p:ext uri="{BB962C8B-B14F-4D97-AF65-F5344CB8AC3E}">
        <p14:creationId xmlns:p14="http://schemas.microsoft.com/office/powerpoint/2010/main" val="3612643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5"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smtClean="0">
                <a:solidFill>
                  <a:srgbClr val="2B3541"/>
                </a:solidFill>
                <a:latin typeface="Times New Roman"/>
                <a:ea typeface="Times New Roman"/>
                <a:cs typeface="Times New Roman"/>
                <a:sym typeface="Times New Roman"/>
                <a:hlinkClick r:id="rId2"/>
              </a:rPr>
              <a:t>https</a:t>
            </a:r>
            <a:r>
              <a:rPr lang="en-US" sz="1850" dirty="0">
                <a:solidFill>
                  <a:srgbClr val="2B3541"/>
                </a:solidFill>
                <a:latin typeface="Times New Roman"/>
                <a:ea typeface="Times New Roman"/>
                <a:cs typeface="Times New Roman"/>
                <a:sym typeface="Times New Roman"/>
                <a:hlinkClick r:id="rId2"/>
              </a:rPr>
              <a:t>://</a:t>
            </a:r>
            <a:r>
              <a:rPr lang="en-US" sz="1850" dirty="0" smtClean="0">
                <a:solidFill>
                  <a:srgbClr val="2B3541"/>
                </a:solidFill>
                <a:latin typeface="Times New Roman"/>
                <a:ea typeface="Times New Roman"/>
                <a:cs typeface="Times New Roman"/>
                <a:sym typeface="Times New Roman"/>
                <a:hlinkClick r:id="rId2"/>
              </a:rPr>
              <a:t>github.com/prajesh102004/Astra-DB-lang-flow.git</a:t>
            </a:r>
            <a:endParaRPr lang="en-US" sz="1850"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6"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7"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8"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9" name="Picture 8">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235291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Future Scope </a:t>
            </a:r>
            <a:endParaRPr sz="35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endParaRPr sz="185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D870B59D-6C8E-7A37-EB83-C6D7CB4B66E7}"/>
              </a:ext>
            </a:extLst>
          </p:cNvPr>
          <p:cNvSpPr txBox="1"/>
          <p:nvPr/>
        </p:nvSpPr>
        <p:spPr>
          <a:xfrm>
            <a:off x="1218723" y="1501122"/>
            <a:ext cx="10038161" cy="2315827"/>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future of this project lies in moving from basic data analysis to a fully "smart" farming ecosystem that thinks ahead. By upgrading to Recurrent Neural Networks (RNNs), the tool will be able to track weather patterns over time, spotting hidden trends like a slow-building drought that simple models might miss. We plan to connect the AI directly to on-farm soil sensors and drones, creating a real-time "Digital Twin" of the field that provides instant alerts for water or fertilizer needs. To make the tool usable for everyone, we will develop a simple mobile app that works offline and supports multiple languages, allowing farmers in remote areas to get expert advice just by asking a question. Eventually, this could even link to "smart insurance," where the AI automatically verifies weather damage to trigger instant payouts, providing a complete safety net for the global food supply.</a:t>
            </a: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048AB596-A60B-186A-DF03-1D6AC9EACA65}"/>
              </a:ext>
            </a:extLst>
          </p:cNvPr>
          <p:cNvSpPr txBox="1"/>
          <p:nvPr/>
        </p:nvSpPr>
        <p:spPr>
          <a:xfrm>
            <a:off x="2361460" y="2556768"/>
            <a:ext cx="7182035" cy="1015663"/>
          </a:xfrm>
          <a:prstGeom prst="rect">
            <a:avLst/>
          </a:prstGeom>
          <a:noFill/>
        </p:spPr>
        <p:txBody>
          <a:bodyPr wrap="square" rtlCol="0">
            <a:spAutoFit/>
          </a:bodyPr>
          <a:lstStyle/>
          <a:p>
            <a:pPr algn="ctr"/>
            <a:r>
              <a:rPr lang="en-US" sz="6000" b="1"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1238</TotalTime>
  <Words>1336</Words>
  <Application>Microsoft Office PowerPoint</Application>
  <PresentationFormat>Widescreen</PresentationFormat>
  <Paragraphs>101</Paragraphs>
  <Slides>17</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126</cp:revision>
  <dcterms:created xsi:type="dcterms:W3CDTF">2025-07-08T05:06:56Z</dcterms:created>
  <dcterms:modified xsi:type="dcterms:W3CDTF">2026-01-28T05:46:25Z</dcterms:modified>
</cp:coreProperties>
</file>